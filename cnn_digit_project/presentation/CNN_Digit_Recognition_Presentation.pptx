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Reproducing Gradient-Based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Handwritten Digit Recognition with a Compact CNN</a:t>
            </a:r>
          </a:p>
          <a:p>
            <a:pPr>
              <a:spcAft>
                <a:spcPts val="1200"/>
              </a:spcAft>
              <a:defRPr sz="1900"/>
            </a:pPr>
            <a:r>
              <a:t>Based on LeCun et al. (1998)</a:t>
            </a:r>
          </a:p>
          <a:p>
            <a:pPr>
              <a:spcAft>
                <a:spcPts val="1200"/>
              </a:spcAft>
              <a:defRPr sz="1900"/>
            </a:pPr>
            <a:r>
              <a:t>Raj Verma | Integrated M.Tech AI | VIT Bhopal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Y. LeCun, L. Bottou, Y. Bengio, P. Haffner</a:t>
            </a:r>
          </a:p>
          <a:p>
            <a:pPr>
              <a:spcAft>
                <a:spcPts val="1200"/>
              </a:spcAft>
              <a:defRPr sz="1900"/>
            </a:pPr>
            <a:r>
              <a:t>Proceedings of the IEEE, 86(11), 2278–2324, 1998</a:t>
            </a:r>
          </a:p>
          <a:p>
            <a:pPr>
              <a:spcAft>
                <a:spcPts val="1200"/>
              </a:spcAft>
              <a:defRPr sz="1900"/>
            </a:pPr>
            <a:r>
              <a:t>DOI: 10.1109/5.726791</a:t>
            </a:r>
          </a:p>
          <a:p>
            <a:pPr>
              <a:spcAft>
                <a:spcPts val="1200"/>
              </a:spcAft>
              <a:defRPr sz="1900"/>
            </a:pPr>
            <a:r>
              <a:t>Core idea: CNNs are effective for 2D handwritten-character recognition.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Recognize handwritten digits automatically from image pixels.</a:t>
            </a:r>
          </a:p>
          <a:p>
            <a:pPr>
              <a:spcAft>
                <a:spcPts val="1200"/>
              </a:spcAft>
              <a:defRPr sz="1900"/>
            </a:pPr>
            <a:r>
              <a:t>Use a CNN to learn spatial patterns instead of manually engineering features.</a:t>
            </a:r>
          </a:p>
          <a:p>
            <a:pPr>
              <a:spcAft>
                <a:spcPts val="1200"/>
              </a:spcAft>
              <a:defRPr sz="1900"/>
            </a:pPr>
            <a:r>
              <a:t>Build a small reproducible implementation suitable for a student laptop.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scikit-learn load_digits</a:t>
            </a:r>
          </a:p>
          <a:p>
            <a:pPr>
              <a:spcAft>
                <a:spcPts val="1200"/>
              </a:spcAft>
              <a:defRPr sz="1900"/>
            </a:pPr>
            <a:r>
              <a:t>1,797 grayscale images</a:t>
            </a:r>
          </a:p>
          <a:p>
            <a:pPr>
              <a:spcAft>
                <a:spcPts val="1200"/>
              </a:spcAft>
              <a:defRPr sz="1900"/>
            </a:pPr>
            <a:r>
              <a:t>10 digit classes: 0–9</a:t>
            </a:r>
          </a:p>
          <a:p>
            <a:pPr>
              <a:spcAft>
                <a:spcPts val="1200"/>
              </a:spcAft>
              <a:defRPr sz="1900"/>
            </a:pPr>
            <a:r>
              <a:t>Image size: 8×8 pixels</a:t>
            </a:r>
          </a:p>
          <a:p>
            <a:pPr>
              <a:spcAft>
                <a:spcPts val="1200"/>
              </a:spcAft>
              <a:defRPr sz="1900"/>
            </a:pPr>
            <a:r>
              <a:t>Pixel values: 0–16</a:t>
            </a:r>
          </a:p>
          <a:p>
            <a:pPr>
              <a:spcAft>
                <a:spcPts val="1200"/>
              </a:spcAft>
              <a:defRPr sz="1900"/>
            </a:pPr>
            <a:r>
              <a:t>Split: 68% train / 12% validation / 20%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CNN?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Convolution learns local visual patterns such as edges and strokes.</a:t>
            </a:r>
          </a:p>
          <a:p>
            <a:pPr>
              <a:spcAft>
                <a:spcPts val="1200"/>
              </a:spcAft>
              <a:defRPr sz="1900"/>
            </a:pPr>
            <a:r>
              <a:t>Weight sharing reduces the number of parameters.</a:t>
            </a:r>
          </a:p>
          <a:p>
            <a:pPr>
              <a:spcAft>
                <a:spcPts val="1200"/>
              </a:spcAft>
              <a:defRPr sz="1900"/>
            </a:pPr>
            <a:r>
              <a:t>Pooling reduces spatial size and adds some translation tolerance.</a:t>
            </a:r>
          </a:p>
          <a:p>
            <a:pPr>
              <a:spcAft>
                <a:spcPts val="1200"/>
              </a:spcAft>
              <a:defRPr sz="1900"/>
            </a:pPr>
            <a:r>
              <a:t>This matches the structure of handwritten images.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Input 1×8×8</a:t>
            </a:r>
          </a:p>
          <a:p>
            <a:pPr>
              <a:spcAft>
                <a:spcPts val="1200"/>
              </a:spcAft>
              <a:defRPr sz="1900"/>
            </a:pPr>
            <a:r>
              <a:t>Conv 1→16 → ReLU → MaxPool</a:t>
            </a:r>
          </a:p>
          <a:p>
            <a:pPr>
              <a:spcAft>
                <a:spcPts val="1200"/>
              </a:spcAft>
              <a:defRPr sz="1900"/>
            </a:pPr>
            <a:r>
              <a:t>Conv 16→32 → ReLU → MaxPool</a:t>
            </a:r>
          </a:p>
          <a:p>
            <a:pPr>
              <a:spcAft>
                <a:spcPts val="1200"/>
              </a:spcAft>
              <a:defRPr sz="1900"/>
            </a:pPr>
            <a:r>
              <a:t>Flatten → Dense 64 → ReLU → Dropout</a:t>
            </a:r>
          </a:p>
          <a:p>
            <a:pPr>
              <a:spcAft>
                <a:spcPts val="1200"/>
              </a:spcAft>
              <a:defRPr sz="1900"/>
            </a:pPr>
            <a:r>
              <a:t>Dense 10 → predicted digit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Framework: PyTorch</a:t>
            </a:r>
          </a:p>
          <a:p>
            <a:pPr>
              <a:spcAft>
                <a:spcPts val="1200"/>
              </a:spcAft>
              <a:defRPr sz="1900"/>
            </a:pPr>
            <a:r>
              <a:t>Optimizer: Adam</a:t>
            </a:r>
          </a:p>
          <a:p>
            <a:pPr>
              <a:spcAft>
                <a:spcPts val="1200"/>
              </a:spcAft>
              <a:defRPr sz="1900"/>
            </a:pPr>
            <a:r>
              <a:t>Learning rate: 0.001</a:t>
            </a:r>
          </a:p>
          <a:p>
            <a:pPr>
              <a:spcAft>
                <a:spcPts val="1200"/>
              </a:spcAft>
              <a:defRPr sz="1900"/>
            </a:pPr>
            <a:r>
              <a:t>Loss: Cross-Entropy</a:t>
            </a:r>
          </a:p>
          <a:p>
            <a:pPr>
              <a:spcAft>
                <a:spcPts val="1200"/>
              </a:spcAft>
              <a:defRPr sz="1900"/>
            </a:pPr>
            <a:r>
              <a:t>Batch size: 64</a:t>
            </a:r>
          </a:p>
          <a:p>
            <a:pPr>
              <a:spcAft>
                <a:spcPts val="1200"/>
              </a:spcAft>
              <a:defRPr sz="1900"/>
            </a:pPr>
            <a:r>
              <a:t>Maximum epochs: 30</a:t>
            </a:r>
          </a:p>
          <a:p>
            <a:pPr>
              <a:spcAft>
                <a:spcPts val="1200"/>
              </a:spcAft>
              <a:defRPr sz="1900"/>
            </a:pPr>
            <a:r>
              <a:t>Random seed: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model steadily learns the digit classes.</a:t>
            </a:r>
          </a:p>
          <a:p>
            <a:pPr>
              <a:spcAft>
                <a:spcPts val="1200"/>
              </a:spcAft>
              <a:defRPr sz="1900"/>
            </a:pPr>
            <a:r>
              <a:t>Validation accuracy is monitored during training.</a:t>
            </a:r>
          </a:p>
        </p:txBody>
      </p:sp>
      <p:pic>
        <p:nvPicPr>
          <p:cNvPr id="4" name="Picture 3" descr="trainin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212080" cy="29783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Accuracy: 96.94%</a:t>
            </a:r>
          </a:p>
          <a:p>
            <a:pPr>
              <a:spcAft>
                <a:spcPts val="1200"/>
              </a:spcAft>
              <a:defRPr sz="1900"/>
            </a:pPr>
            <a:r>
              <a:t>Weighted Precision: 97.01%</a:t>
            </a:r>
          </a:p>
          <a:p>
            <a:pPr>
              <a:spcAft>
                <a:spcPts val="1200"/>
              </a:spcAft>
              <a:defRPr sz="1900"/>
            </a:pPr>
            <a:r>
              <a:t>Weighted Recall: 96.94%</a:t>
            </a:r>
          </a:p>
          <a:p>
            <a:pPr>
              <a:spcAft>
                <a:spcPts val="1200"/>
              </a:spcAft>
              <a:defRPr sz="1900"/>
            </a:pPr>
            <a:r>
              <a:t>Weighted F1: 96.92%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the Results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Most digits are classified correctly.</a:t>
            </a:r>
          </a:p>
          <a:p>
            <a:pPr>
              <a:spcAft>
                <a:spcPts val="1200"/>
              </a:spcAft>
              <a:defRPr sz="1900"/>
            </a:pPr>
            <a:r>
              <a:t>Errors mainly occur between visually similar handwritten shapes.</a:t>
            </a:r>
          </a:p>
          <a:p>
            <a:pPr>
              <a:spcAft>
                <a:spcPts val="1200"/>
              </a:spcAft>
              <a:defRPr sz="1900"/>
            </a:pPr>
            <a:r>
              <a:t>The experiment validates the usefulness of convolutional feature learning on a small image task.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Not an exact reproduction of the 1998 experiments.</a:t>
            </a:r>
          </a:p>
          <a:p>
            <a:pPr>
              <a:spcAft>
                <a:spcPts val="1200"/>
              </a:spcAft>
              <a:defRPr sz="1900"/>
            </a:pPr>
            <a:r>
              <a:t>Uses a much smaller 8×8 dataset and a compact architecture.</a:t>
            </a:r>
          </a:p>
          <a:p>
            <a:pPr>
              <a:spcAft>
                <a:spcPts val="1200"/>
              </a:spcAft>
              <a:defRPr sz="1900"/>
            </a:pPr>
            <a:r>
              <a:t>Future: MNIST/EMNIST, augmentation, deeper CNNs, SVM comparison, interactive drawing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compact CNN achieved 96.94% test accuracy.</a:t>
            </a:r>
          </a:p>
          <a:p>
            <a:pPr>
              <a:spcAft>
                <a:spcPts val="1200"/>
              </a:spcAft>
              <a:defRPr sz="1900"/>
            </a:pPr>
            <a:r>
              <a:t>The implementation demonstrates the central CNN idea from the selected paper.</a:t>
            </a:r>
          </a:p>
          <a:p>
            <a:pPr>
              <a:spcAft>
                <a:spcPts val="1200"/>
              </a:spcAft>
              <a:defRPr sz="1900"/>
            </a:pPr>
            <a:r>
              <a:t>The project is reproducible, lightweight, and suitable for GitHub and classroom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LeCun et al. (1998), Gradient-Based Learning Applied to Document Recognition, DOI 10.1109/5.726791.</a:t>
            </a:r>
          </a:p>
          <a:p>
            <a:pPr>
              <a:spcAft>
                <a:spcPts val="1200"/>
              </a:spcAft>
              <a:defRPr sz="1900"/>
            </a:pPr>
            <a:r>
              <a:t>scikit-learn load_digits documentation.</a:t>
            </a:r>
          </a:p>
          <a:p>
            <a:pPr>
              <a:spcAft>
                <a:spcPts val="1200"/>
              </a:spcAft>
              <a:defRPr sz="1900"/>
            </a:pPr>
            <a:r>
              <a:t>PyTorch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